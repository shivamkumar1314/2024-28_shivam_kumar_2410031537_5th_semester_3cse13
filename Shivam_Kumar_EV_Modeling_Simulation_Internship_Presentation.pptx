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7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27648"/>
            <a:ext cx="12191695" cy="164592"/>
          </a:xfrm>
          <a:prstGeom prst="rect">
            <a:avLst/>
          </a:prstGeom>
          <a:solidFill>
            <a:srgbClr val="07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6144768"/>
            <a:ext cx="12191695" cy="118872"/>
          </a:xfrm>
          <a:prstGeom prst="rect">
            <a:avLst/>
          </a:prstGeom>
          <a:solidFill>
            <a:srgbClr val="00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5998464"/>
            <a:ext cx="12191695" cy="91440"/>
          </a:xfrm>
          <a:prstGeom prst="rect">
            <a:avLst/>
          </a:prstGeom>
          <a:solidFill>
            <a:srgbClr val="F58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44200" y="6400800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F697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621792"/>
            <a:ext cx="10881360" cy="5230368"/>
          </a:xfrm>
          <a:prstGeom prst="round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914400"/>
            <a:ext cx="10332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72A5B"/>
                </a:solidFill>
                <a:latin typeface="Aptos"/>
              </a:defRPr>
            </a:pPr>
            <a:r>
              <a:t>IILM UNIVERSITY, GREATER NOIDA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261872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5F6973"/>
                </a:solidFill>
                <a:latin typeface="Aptos"/>
              </a:defRPr>
            </a:pPr>
            <a:r>
              <a:t>INTERNSHIP REPORT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47088"/>
            <a:ext cx="10332720" cy="107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100" b="1">
                <a:solidFill>
                  <a:srgbClr val="072A5B"/>
                </a:solidFill>
                <a:latin typeface="Aptos"/>
              </a:defRPr>
            </a:pPr>
            <a:r>
              <a:t>Electric Vehicle Modeling</a:t>
            </a:r>
            <a:br/>
            <a:r>
              <a:t>and Simulation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63240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F58B18"/>
                </a:solidFill>
                <a:latin typeface="Aptos"/>
              </a:defRPr>
            </a:pPr>
            <a:r>
              <a:t>Virtual Internship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75887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0">
                <a:solidFill>
                  <a:srgbClr val="1E2630"/>
                </a:solidFill>
                <a:latin typeface="Aptos"/>
              </a:defRPr>
            </a:pPr>
            <a:r>
              <a:t>AICTE – EduSkills Virtual Internship Program</a:t>
            </a:r>
            <a:br/>
            <a:r>
              <a:t>Supported by MathWorks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45152"/>
            <a:ext cx="10332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72A5B"/>
                </a:solidFill>
                <a:latin typeface="Aptos"/>
              </a:defRPr>
            </a:pPr>
            <a:r>
              <a:t>shivam kumar  |  B.Tech (Computer Science and Engineering)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056632"/>
            <a:ext cx="10332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5F6973"/>
                </a:solidFill>
                <a:latin typeface="Aptos"/>
              </a:defRPr>
            </a:pPr>
            <a:r>
              <a:t>June –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7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27648"/>
            <a:ext cx="12191695" cy="164592"/>
          </a:xfrm>
          <a:prstGeom prst="rect">
            <a:avLst/>
          </a:prstGeom>
          <a:solidFill>
            <a:srgbClr val="07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6144768"/>
            <a:ext cx="12191695" cy="118872"/>
          </a:xfrm>
          <a:prstGeom prst="rect">
            <a:avLst/>
          </a:prstGeom>
          <a:solidFill>
            <a:srgbClr val="00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5998464"/>
            <a:ext cx="12191695" cy="91440"/>
          </a:xfrm>
          <a:prstGeom prst="rect">
            <a:avLst/>
          </a:prstGeom>
          <a:solidFill>
            <a:srgbClr val="F58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93192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72A5B"/>
                </a:solidFill>
                <a:latin typeface="Aptos"/>
              </a:defRPr>
            </a:pPr>
            <a:r>
              <a:t>ABOUT THE STUDENT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" y="941832"/>
            <a:ext cx="914400" cy="50292"/>
          </a:xfrm>
          <a:prstGeom prst="rect">
            <a:avLst/>
          </a:prstGeom>
          <a:solidFill>
            <a:srgbClr val="F58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44200" y="6400800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F697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3444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072A5B"/>
                </a:solidFill>
                <a:latin typeface="Aptos"/>
              </a:defRPr>
            </a:pPr>
            <a:r>
              <a:t>Candidate 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37360"/>
            <a:ext cx="1965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5F6973"/>
                </a:solidFill>
                <a:latin typeface="Aptos"/>
              </a:defRPr>
            </a:pPr>
            <a:r>
              <a:t>Student 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1737360"/>
            <a:ext cx="8321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1E2630"/>
                </a:solidFill>
                <a:latin typeface="Aptos"/>
              </a:defRPr>
            </a:pPr>
            <a:r>
              <a:t>shivam kumar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313432"/>
            <a:ext cx="1965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5F6973"/>
                </a:solidFill>
                <a:latin typeface="Aptos"/>
              </a:defRPr>
            </a:pPr>
            <a:r>
              <a:t>Stream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313432"/>
            <a:ext cx="8321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1E2630"/>
                </a:solidFill>
                <a:latin typeface="Aptos"/>
              </a:defRPr>
            </a:pPr>
            <a:r>
              <a:t>B.Tech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889503"/>
            <a:ext cx="1965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5F6973"/>
                </a:solidFill>
                <a:latin typeface="Aptos"/>
              </a:defRPr>
            </a:pPr>
            <a:r>
              <a:t>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889503"/>
            <a:ext cx="8321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1E2630"/>
                </a:solidFill>
                <a:latin typeface="Aptos"/>
              </a:defRPr>
            </a:pPr>
            <a:r>
              <a:t>B.Tech (Computer Science and Engineering)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465575"/>
            <a:ext cx="1965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5F6973"/>
                </a:solidFill>
                <a:latin typeface="Aptos"/>
              </a:defRPr>
            </a:pPr>
            <a:r>
              <a:t>Institute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3465575"/>
            <a:ext cx="8321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1E2630"/>
                </a:solidFill>
                <a:latin typeface="Aptos"/>
              </a:defRPr>
            </a:pPr>
            <a:r>
              <a:t>IILM University, Greater Noida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041648"/>
            <a:ext cx="1965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5F6973"/>
                </a:solidFill>
                <a:latin typeface="Aptos"/>
              </a:defRPr>
            </a:pPr>
            <a:r>
              <a:t>Internship Domain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4041648"/>
            <a:ext cx="8321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1E2630"/>
                </a:solidFill>
                <a:latin typeface="Aptos"/>
              </a:defRPr>
            </a:pPr>
            <a:r>
              <a:t>Electric Vehicle Modeling and Simulation Virtual Internship Program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617720"/>
            <a:ext cx="1965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5F6973"/>
                </a:solidFill>
                <a:latin typeface="Aptos"/>
              </a:defRPr>
            </a:pPr>
            <a:r>
              <a:t>Duration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4617720"/>
            <a:ext cx="8321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1E2630"/>
                </a:solidFill>
                <a:latin typeface="Aptos"/>
              </a:defRPr>
            </a:pPr>
            <a:r>
              <a:t>8 Weeks | June – August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193792"/>
            <a:ext cx="1965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5F6973"/>
                </a:solidFill>
                <a:latin typeface="Aptos"/>
              </a:defRPr>
            </a:pPr>
            <a:r>
              <a:t>AICTE Student 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5193792"/>
            <a:ext cx="8321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1E2630"/>
                </a:solidFill>
                <a:latin typeface="Aptos"/>
              </a:defRPr>
            </a:pPr>
            <a:r>
              <a:t>STU699ac8fcc6e891771751676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7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27648"/>
            <a:ext cx="12191695" cy="164592"/>
          </a:xfrm>
          <a:prstGeom prst="rect">
            <a:avLst/>
          </a:prstGeom>
          <a:solidFill>
            <a:srgbClr val="07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6144768"/>
            <a:ext cx="12191695" cy="118872"/>
          </a:xfrm>
          <a:prstGeom prst="rect">
            <a:avLst/>
          </a:prstGeom>
          <a:solidFill>
            <a:srgbClr val="00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5998464"/>
            <a:ext cx="12191695" cy="91440"/>
          </a:xfrm>
          <a:prstGeom prst="rect">
            <a:avLst/>
          </a:prstGeom>
          <a:solidFill>
            <a:srgbClr val="F58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93192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72A5B"/>
                </a:solidFill>
                <a:latin typeface="Aptos"/>
              </a:defRPr>
            </a:pPr>
            <a:r>
              <a:t>ABOUT THE PROGRAM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" y="941832"/>
            <a:ext cx="914400" cy="50292"/>
          </a:xfrm>
          <a:prstGeom prst="rect">
            <a:avLst/>
          </a:prstGeom>
          <a:solidFill>
            <a:srgbClr val="F58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44200" y="6400800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F697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3444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072A5B"/>
                </a:solidFill>
                <a:latin typeface="Aptos"/>
              </a:defRPr>
            </a:pPr>
            <a:r>
              <a:t>AICTE – EduSkills Virtual Internship Program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47088"/>
            <a:ext cx="3429000" cy="2057400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0392" y="1993392"/>
            <a:ext cx="393192" cy="393192"/>
          </a:xfrm>
          <a:prstGeom prst="ellipse">
            <a:avLst/>
          </a:prstGeom>
          <a:solidFill>
            <a:srgbClr val="F58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6252"/>
            <a:ext cx="3931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" y="1984248"/>
            <a:ext cx="26334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72A5B"/>
                </a:solidFill>
                <a:latin typeface="Aptos"/>
              </a:defRPr>
            </a:pPr>
            <a:r>
              <a:t>8-Week Program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395728"/>
            <a:ext cx="30632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E2630"/>
                </a:solidFill>
                <a:latin typeface="Aptos"/>
              </a:defRPr>
            </a:pPr>
            <a:r>
              <a:t>Selected for an 8-week virtual internship with a structured, week-wise learning plan.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1847088"/>
            <a:ext cx="3429000" cy="2057400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53712" y="1993392"/>
            <a:ext cx="393192" cy="393192"/>
          </a:xfrm>
          <a:prstGeom prst="ellipse">
            <a:avLst/>
          </a:prstGeom>
          <a:solidFill>
            <a:srgbClr val="F58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2016252"/>
            <a:ext cx="3931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7488" y="1984248"/>
            <a:ext cx="26334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72A5B"/>
                </a:solidFill>
                <a:latin typeface="Aptos"/>
              </a:defRPr>
            </a:pPr>
            <a:r>
              <a:t>Learning + Practice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395728"/>
            <a:ext cx="30632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E2630"/>
                </a:solidFill>
                <a:latin typeface="Aptos"/>
              </a:defRPr>
            </a:pPr>
            <a:r>
              <a:t>The program combines structured learning with practical exposure and project documentation.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847088"/>
            <a:ext cx="3429000" cy="2057400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57031" y="1993392"/>
            <a:ext cx="393192" cy="393192"/>
          </a:xfrm>
          <a:prstGeom prst="ellipse">
            <a:avLst/>
          </a:prstGeom>
          <a:solidFill>
            <a:srgbClr val="F58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57031" y="2016252"/>
            <a:ext cx="3931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50808" y="1984248"/>
            <a:ext cx="263347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72A5B"/>
                </a:solidFill>
                <a:latin typeface="Aptos"/>
              </a:defRPr>
            </a:pPr>
            <a:r>
              <a:t>Assessment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19" y="2395728"/>
            <a:ext cx="30632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E2630"/>
                </a:solidFill>
                <a:latin typeface="Aptos"/>
              </a:defRPr>
            </a:pPr>
            <a:r>
              <a:t>Weekly assessments, project submissions and a final assessment contribute to the final grade.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434840"/>
            <a:ext cx="10332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58B18"/>
                </a:solidFill>
                <a:latin typeface="Aptos"/>
              </a:defRPr>
            </a:pPr>
            <a:r>
              <a:t>Successful completion of the required steps and assessments leads to a Virtual Internship Certificate.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7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27648"/>
            <a:ext cx="12191695" cy="164592"/>
          </a:xfrm>
          <a:prstGeom prst="rect">
            <a:avLst/>
          </a:prstGeom>
          <a:solidFill>
            <a:srgbClr val="07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6144768"/>
            <a:ext cx="12191695" cy="118872"/>
          </a:xfrm>
          <a:prstGeom prst="rect">
            <a:avLst/>
          </a:prstGeom>
          <a:solidFill>
            <a:srgbClr val="00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5998464"/>
            <a:ext cx="12191695" cy="91440"/>
          </a:xfrm>
          <a:prstGeom prst="rect">
            <a:avLst/>
          </a:prstGeom>
          <a:solidFill>
            <a:srgbClr val="F58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93192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72A5B"/>
                </a:solidFill>
                <a:latin typeface="Aptos"/>
              </a:defRPr>
            </a:pPr>
            <a:r>
              <a:t>LEARNING FOCUS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" y="941832"/>
            <a:ext cx="914400" cy="50292"/>
          </a:xfrm>
          <a:prstGeom prst="rect">
            <a:avLst/>
          </a:prstGeom>
          <a:solidFill>
            <a:srgbClr val="F58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44200" y="6400800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F697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34440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072A5B"/>
                </a:solidFill>
                <a:latin typeface="Aptos"/>
              </a:defRPr>
            </a:pPr>
            <a:r>
              <a:t>From MATLAB Fundamentals to EV-Oriented System Modeling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10512"/>
            <a:ext cx="104241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50" b="0">
                <a:solidFill>
                  <a:srgbClr val="1E2630"/>
                </a:solidFill>
                <a:latin typeface="Aptos"/>
              </a:defRPr>
            </a:pPr>
            <a:r>
              <a:t>The internship progresses from MATLAB and Simulink fundamentals to control design, physical-system simulation, battery management, power systems, system architecture and application development.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310128"/>
            <a:ext cx="214884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7512" y="3456432"/>
            <a:ext cx="393192" cy="393192"/>
          </a:xfrm>
          <a:prstGeom prst="ellipse">
            <a:avLst/>
          </a:prstGeom>
          <a:solidFill>
            <a:srgbClr val="F58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3479292"/>
            <a:ext cx="3931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" y="3447288"/>
            <a:ext cx="13533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72A5B"/>
                </a:solidFill>
                <a:latin typeface="Aptos"/>
              </a:defRPr>
            </a:pPr>
            <a:r>
              <a:t>LEARN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858768"/>
            <a:ext cx="1783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E2630"/>
                </a:solidFill>
                <a:latin typeface="Aptos"/>
              </a:defRPr>
            </a:pPr>
            <a:r>
              <a:t>MATLAB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07208" y="3310128"/>
            <a:ext cx="214884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71800" y="3456432"/>
            <a:ext cx="393192" cy="393192"/>
          </a:xfrm>
          <a:prstGeom prst="ellipse">
            <a:avLst/>
          </a:prstGeom>
          <a:solidFill>
            <a:srgbClr val="F58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71800" y="3479292"/>
            <a:ext cx="3931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65576" y="3447288"/>
            <a:ext cx="13533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72A5B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90088" y="3858768"/>
            <a:ext cx="1783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E2630"/>
                </a:solidFill>
                <a:latin typeface="Aptos"/>
              </a:defRPr>
            </a:pPr>
            <a:r>
              <a:t>Simulink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11496" y="3310128"/>
            <a:ext cx="214884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276088" y="3456432"/>
            <a:ext cx="393192" cy="393192"/>
          </a:xfrm>
          <a:prstGeom prst="ellipse">
            <a:avLst/>
          </a:prstGeom>
          <a:solidFill>
            <a:srgbClr val="F58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76088" y="3479292"/>
            <a:ext cx="3931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9864" y="3447288"/>
            <a:ext cx="13533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72A5B"/>
                </a:solidFill>
                <a:latin typeface="Aptos"/>
              </a:defRPr>
            </a:pPr>
            <a:r>
              <a:t>SIMULATE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94376" y="3858768"/>
            <a:ext cx="1783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E2630"/>
                </a:solidFill>
                <a:latin typeface="Aptos"/>
              </a:defRPr>
            </a:pPr>
            <a:r>
              <a:t>Simscape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15783" y="3310128"/>
            <a:ext cx="214884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580375" y="3456432"/>
            <a:ext cx="393192" cy="393192"/>
          </a:xfrm>
          <a:prstGeom prst="ellipse">
            <a:avLst/>
          </a:prstGeom>
          <a:solidFill>
            <a:srgbClr val="F58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0375" y="3479292"/>
            <a:ext cx="3931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74152" y="3447288"/>
            <a:ext cx="135331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72A5B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98663" y="3858768"/>
            <a:ext cx="1783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E2630"/>
                </a:solidFill>
                <a:latin typeface="Aptos"/>
              </a:defRPr>
            </a:pPr>
            <a:r>
              <a:t>Stateflow / PID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20072" y="3310128"/>
            <a:ext cx="2148840" cy="1417320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884663" y="3456432"/>
            <a:ext cx="393192" cy="393192"/>
          </a:xfrm>
          <a:prstGeom prst="ellipse">
            <a:avLst/>
          </a:prstGeom>
          <a:solidFill>
            <a:srgbClr val="F58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84663" y="3479292"/>
            <a:ext cx="3931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78440" y="3447288"/>
            <a:ext cx="135331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72A5B"/>
                </a:solidFill>
                <a:latin typeface="Aptos"/>
              </a:defRPr>
            </a:pPr>
            <a:r>
              <a:t>BUILD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02951" y="3858768"/>
            <a:ext cx="17830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E2630"/>
                </a:solidFill>
                <a:latin typeface="Aptos"/>
              </a:defRPr>
            </a:pPr>
            <a:r>
              <a:t>System &amp; Apps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7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27648"/>
            <a:ext cx="12191695" cy="164592"/>
          </a:xfrm>
          <a:prstGeom prst="rect">
            <a:avLst/>
          </a:prstGeom>
          <a:solidFill>
            <a:srgbClr val="07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6144768"/>
            <a:ext cx="12191695" cy="118872"/>
          </a:xfrm>
          <a:prstGeom prst="rect">
            <a:avLst/>
          </a:prstGeom>
          <a:solidFill>
            <a:srgbClr val="00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5998464"/>
            <a:ext cx="12191695" cy="91440"/>
          </a:xfrm>
          <a:prstGeom prst="rect">
            <a:avLst/>
          </a:prstGeom>
          <a:solidFill>
            <a:srgbClr val="F58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93192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72A5B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" y="941832"/>
            <a:ext cx="914400" cy="50292"/>
          </a:xfrm>
          <a:prstGeom prst="rect">
            <a:avLst/>
          </a:prstGeom>
          <a:solidFill>
            <a:srgbClr val="F58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44200" y="6400800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F6973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3444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072A5B"/>
                </a:solidFill>
                <a:latin typeface="Aptos"/>
              </a:defRPr>
            </a:pPr>
            <a:r>
              <a:t>What the Internship Set Out to Achieve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83080"/>
            <a:ext cx="315468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0392" y="1929384"/>
            <a:ext cx="393192" cy="393192"/>
          </a:xfrm>
          <a:prstGeom prst="ellipse">
            <a:avLst/>
          </a:prstGeom>
          <a:solidFill>
            <a:srgbClr val="F58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1952243"/>
            <a:ext cx="3931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" y="1920240"/>
            <a:ext cx="2359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72A5B"/>
                </a:solidFill>
                <a:latin typeface="Aptos"/>
              </a:defRPr>
            </a:pPr>
            <a:r>
              <a:t>MATLAB Fundamentals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331720"/>
            <a:ext cx="2788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E2630"/>
                </a:solidFill>
                <a:latin typeface="Aptos"/>
              </a:defRPr>
            </a:pPr>
            <a:r>
              <a:t>Learn MATLAB®, its language, development environment and essential engineering-data tools.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1783080"/>
            <a:ext cx="315468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325112" y="1929384"/>
            <a:ext cx="393192" cy="393192"/>
          </a:xfrm>
          <a:prstGeom prst="ellipse">
            <a:avLst/>
          </a:prstGeom>
          <a:solidFill>
            <a:srgbClr val="F58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25112" y="1952243"/>
            <a:ext cx="3931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18888" y="1920240"/>
            <a:ext cx="2359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72A5B"/>
                </a:solidFill>
                <a:latin typeface="Aptos"/>
              </a:defRPr>
            </a:pPr>
            <a:r>
              <a:t>Simulink Modeling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331720"/>
            <a:ext cx="2788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E2630"/>
                </a:solidFill>
                <a:latin typeface="Aptos"/>
              </a:defRPr>
            </a:pPr>
            <a:r>
              <a:t>Create, edit and simulate block-diagram models representing real-world systems and algorithms.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1783080"/>
            <a:ext cx="315468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99831" y="1929384"/>
            <a:ext cx="393192" cy="393192"/>
          </a:xfrm>
          <a:prstGeom prst="ellipse">
            <a:avLst/>
          </a:prstGeom>
          <a:solidFill>
            <a:srgbClr val="F58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99831" y="1952243"/>
            <a:ext cx="3931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8" y="1920240"/>
            <a:ext cx="235915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72A5B"/>
                </a:solidFill>
                <a:latin typeface="Aptos"/>
              </a:defRPr>
            </a:pPr>
            <a:r>
              <a:t>Control 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19" y="2331720"/>
            <a:ext cx="2788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E2630"/>
                </a:solidFill>
                <a:latin typeface="Aptos"/>
              </a:defRPr>
            </a:pPr>
            <a:r>
              <a:t>Learn feedback control design in Simulink®, including PID controller tuning.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703320"/>
            <a:ext cx="315468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50392" y="3849624"/>
            <a:ext cx="393192" cy="393192"/>
          </a:xfrm>
          <a:prstGeom prst="ellipse">
            <a:avLst/>
          </a:prstGeom>
          <a:solidFill>
            <a:srgbClr val="F58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" y="3872483"/>
            <a:ext cx="3931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4168" y="3840480"/>
            <a:ext cx="2359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72A5B"/>
                </a:solidFill>
                <a:latin typeface="Aptos"/>
              </a:defRPr>
            </a:pPr>
            <a:r>
              <a:t>Physical Simulation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4251959"/>
            <a:ext cx="2788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E2630"/>
                </a:solidFill>
                <a:latin typeface="Aptos"/>
              </a:defRPr>
            </a:pPr>
            <a:r>
              <a:t>Use Simscape® for physical systems, circuit simulation and power-electronics converters.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60520" y="3703320"/>
            <a:ext cx="315468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325112" y="3849624"/>
            <a:ext cx="393192" cy="393192"/>
          </a:xfrm>
          <a:prstGeom prst="ellipse">
            <a:avLst/>
          </a:prstGeom>
          <a:solidFill>
            <a:srgbClr val="F58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25112" y="3872483"/>
            <a:ext cx="3931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18888" y="3840480"/>
            <a:ext cx="2359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72A5B"/>
                </a:solidFill>
                <a:latin typeface="Aptos"/>
              </a:defRPr>
            </a:pPr>
            <a:r>
              <a:t>Battery &amp; Power Systems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4251959"/>
            <a:ext cx="2788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E2630"/>
                </a:solidFill>
                <a:latin typeface="Aptos"/>
              </a:defRPr>
            </a:pPr>
            <a:r>
              <a:t>Explore battery management, thermal management, charging/discharging and microgrid simulation.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35240" y="3703320"/>
            <a:ext cx="315468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799831" y="3849624"/>
            <a:ext cx="393192" cy="393192"/>
          </a:xfrm>
          <a:prstGeom prst="ellipse">
            <a:avLst/>
          </a:prstGeom>
          <a:solidFill>
            <a:srgbClr val="F58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99831" y="3872483"/>
            <a:ext cx="3931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93608" y="3840480"/>
            <a:ext cx="235915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72A5B"/>
                </a:solidFill>
                <a:latin typeface="Aptos"/>
              </a:defRPr>
            </a:pPr>
            <a:r>
              <a:t>System &amp; App Development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18119" y="4251959"/>
            <a:ext cx="2788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E2630"/>
                </a:solidFill>
                <a:latin typeface="Aptos"/>
              </a:defRPr>
            </a:pPr>
            <a:r>
              <a:t>Learn system architecture with System Composer™ and build applications with App Designer.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7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27648"/>
            <a:ext cx="12191695" cy="164592"/>
          </a:xfrm>
          <a:prstGeom prst="rect">
            <a:avLst/>
          </a:prstGeom>
          <a:solidFill>
            <a:srgbClr val="07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6144768"/>
            <a:ext cx="12191695" cy="118872"/>
          </a:xfrm>
          <a:prstGeom prst="rect">
            <a:avLst/>
          </a:prstGeom>
          <a:solidFill>
            <a:srgbClr val="00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5998464"/>
            <a:ext cx="12191695" cy="91440"/>
          </a:xfrm>
          <a:prstGeom prst="rect">
            <a:avLst/>
          </a:prstGeom>
          <a:solidFill>
            <a:srgbClr val="F58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93192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72A5B"/>
                </a:solidFill>
                <a:latin typeface="Aptos"/>
              </a:defRPr>
            </a:pPr>
            <a:r>
              <a:t>TECHNOLOGIES &amp; TOOLS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" y="941832"/>
            <a:ext cx="914400" cy="50292"/>
          </a:xfrm>
          <a:prstGeom prst="rect">
            <a:avLst/>
          </a:prstGeom>
          <a:solidFill>
            <a:srgbClr val="F58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44200" y="6400800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F6973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3444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072A5B"/>
                </a:solidFill>
                <a:latin typeface="Aptos"/>
              </a:defRPr>
            </a:pPr>
            <a:r>
              <a:t>The Toolkit Behind the Internship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28800"/>
            <a:ext cx="260604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58952" y="1975104"/>
            <a:ext cx="393192" cy="393192"/>
          </a:xfrm>
          <a:prstGeom prst="ellipse">
            <a:avLst/>
          </a:prstGeom>
          <a:solidFill>
            <a:srgbClr val="F58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1997964"/>
            <a:ext cx="3931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2728" y="1965960"/>
            <a:ext cx="18105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72A5B"/>
                </a:solidFill>
                <a:latin typeface="Aptos"/>
              </a:defRPr>
            </a:pPr>
            <a:r>
              <a:t>MATLAB®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377440"/>
            <a:ext cx="22402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E2630"/>
                </a:solidFill>
                <a:latin typeface="Aptos"/>
              </a:defRPr>
            </a:pPr>
            <a:r>
              <a:t>Programming, analysis and engineering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1828800"/>
            <a:ext cx="260604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39312" y="1975104"/>
            <a:ext cx="393192" cy="393192"/>
          </a:xfrm>
          <a:prstGeom prst="ellipse">
            <a:avLst/>
          </a:prstGeom>
          <a:solidFill>
            <a:srgbClr val="F58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39312" y="1997964"/>
            <a:ext cx="3931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33087" y="1965960"/>
            <a:ext cx="18105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72A5B"/>
                </a:solidFill>
                <a:latin typeface="Aptos"/>
              </a:defRPr>
            </a:pPr>
            <a:r>
              <a:t>Simulink®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377440"/>
            <a:ext cx="22402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E2630"/>
                </a:solidFill>
                <a:latin typeface="Aptos"/>
              </a:defRPr>
            </a:pPr>
            <a:r>
              <a:t>Block-diagram modeling and simulation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1828800"/>
            <a:ext cx="260604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19672" y="1975104"/>
            <a:ext cx="393192" cy="393192"/>
          </a:xfrm>
          <a:prstGeom prst="ellipse">
            <a:avLst/>
          </a:prstGeom>
          <a:solidFill>
            <a:srgbClr val="F58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9672" y="1997964"/>
            <a:ext cx="3931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3448" y="1965960"/>
            <a:ext cx="18105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72A5B"/>
                </a:solidFill>
                <a:latin typeface="Aptos"/>
              </a:defRPr>
            </a:pPr>
            <a:r>
              <a:t>Simscape®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377440"/>
            <a:ext cx="22402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E2630"/>
                </a:solidFill>
                <a:latin typeface="Aptos"/>
              </a:defRPr>
            </a:pPr>
            <a:r>
              <a:t>Physical-system modeling and simulation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35440" y="1828800"/>
            <a:ext cx="260604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00032" y="1975104"/>
            <a:ext cx="393192" cy="393192"/>
          </a:xfrm>
          <a:prstGeom prst="ellipse">
            <a:avLst/>
          </a:prstGeom>
          <a:solidFill>
            <a:srgbClr val="F58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00032" y="1997964"/>
            <a:ext cx="3931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93808" y="1965960"/>
            <a:ext cx="181051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72A5B"/>
                </a:solidFill>
                <a:latin typeface="Aptos"/>
              </a:defRPr>
            </a:pPr>
            <a:r>
              <a:t>Stateflow®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19" y="2377440"/>
            <a:ext cx="22402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E2630"/>
                </a:solidFill>
                <a:latin typeface="Aptos"/>
              </a:defRPr>
            </a:pPr>
            <a:r>
              <a:t>Supervisory control and decision logic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3703320"/>
            <a:ext cx="260604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58952" y="3849624"/>
            <a:ext cx="393192" cy="393192"/>
          </a:xfrm>
          <a:prstGeom prst="ellipse">
            <a:avLst/>
          </a:prstGeom>
          <a:solidFill>
            <a:srgbClr val="F58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" y="3872483"/>
            <a:ext cx="3931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52728" y="3840480"/>
            <a:ext cx="18105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72A5B"/>
                </a:solidFill>
                <a:latin typeface="Aptos"/>
              </a:defRPr>
            </a:pPr>
            <a:r>
              <a:t>Simscape Battery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4251959"/>
            <a:ext cx="22402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E2630"/>
                </a:solidFill>
                <a:latin typeface="Aptos"/>
              </a:defRPr>
            </a:pPr>
            <a:r>
              <a:t>Battery modeling, BMS and thermal management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74720" y="3703320"/>
            <a:ext cx="260604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639312" y="3849624"/>
            <a:ext cx="393192" cy="393192"/>
          </a:xfrm>
          <a:prstGeom prst="ellipse">
            <a:avLst/>
          </a:prstGeom>
          <a:solidFill>
            <a:srgbClr val="F58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39312" y="3872483"/>
            <a:ext cx="3931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33087" y="3840480"/>
            <a:ext cx="18105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72A5B"/>
                </a:solidFill>
                <a:latin typeface="Aptos"/>
              </a:defRPr>
            </a:pPr>
            <a:r>
              <a:t>Simscape Electrical™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0" y="4251959"/>
            <a:ext cx="22402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E2630"/>
                </a:solidFill>
                <a:latin typeface="Aptos"/>
              </a:defRPr>
            </a:pPr>
            <a:r>
              <a:t>Circuits, converters and power systems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55080" y="3703320"/>
            <a:ext cx="260604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519672" y="3849624"/>
            <a:ext cx="393192" cy="393192"/>
          </a:xfrm>
          <a:prstGeom prst="ellipse">
            <a:avLst/>
          </a:prstGeom>
          <a:solidFill>
            <a:srgbClr val="F58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19672" y="3872483"/>
            <a:ext cx="3931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13448" y="3840480"/>
            <a:ext cx="18105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72A5B"/>
                </a:solidFill>
                <a:latin typeface="Aptos"/>
              </a:defRPr>
            </a:pPr>
            <a:r>
              <a:t>System Composer™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4251959"/>
            <a:ext cx="22402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E2630"/>
                </a:solidFill>
                <a:latin typeface="Aptos"/>
              </a:defRPr>
            </a:pPr>
            <a:r>
              <a:t>System architecture and requirements tracing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235440" y="3703320"/>
            <a:ext cx="2606040" cy="1508760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400032" y="3849624"/>
            <a:ext cx="393192" cy="393192"/>
          </a:xfrm>
          <a:prstGeom prst="ellipse">
            <a:avLst/>
          </a:prstGeom>
          <a:solidFill>
            <a:srgbClr val="F58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400032" y="3872483"/>
            <a:ext cx="3931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93808" y="3840480"/>
            <a:ext cx="1810511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72A5B"/>
                </a:solidFill>
                <a:latin typeface="Aptos"/>
              </a:defRPr>
            </a:pPr>
            <a:r>
              <a:t>App Designer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18319" y="4251959"/>
            <a:ext cx="22402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E2630"/>
                </a:solidFill>
                <a:latin typeface="Aptos"/>
              </a:defRPr>
            </a:pPr>
            <a:r>
              <a:t>User interfaces, callbacks and applications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7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27648"/>
            <a:ext cx="12191695" cy="164592"/>
          </a:xfrm>
          <a:prstGeom prst="rect">
            <a:avLst/>
          </a:prstGeom>
          <a:solidFill>
            <a:srgbClr val="07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6144768"/>
            <a:ext cx="12191695" cy="118872"/>
          </a:xfrm>
          <a:prstGeom prst="rect">
            <a:avLst/>
          </a:prstGeom>
          <a:solidFill>
            <a:srgbClr val="00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5998464"/>
            <a:ext cx="12191695" cy="91440"/>
          </a:xfrm>
          <a:prstGeom prst="rect">
            <a:avLst/>
          </a:prstGeom>
          <a:solidFill>
            <a:srgbClr val="F58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93192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72A5B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" y="941832"/>
            <a:ext cx="914400" cy="50292"/>
          </a:xfrm>
          <a:prstGeom prst="rect">
            <a:avLst/>
          </a:prstGeom>
          <a:solidFill>
            <a:srgbClr val="F58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44200" y="6400800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F6973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3444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072A5B"/>
                </a:solidFill>
                <a:latin typeface="Aptos"/>
              </a:defRPr>
            </a:pPr>
            <a:r>
              <a:t>Learning Pipeline: From Modeling to Application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700784"/>
            <a:ext cx="10378440" cy="530352"/>
          </a:xfrm>
          <a:prstGeom prst="roundRect">
            <a:avLst/>
          </a:prstGeom>
          <a:solidFill>
            <a:srgbClr val="07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783080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Aptos"/>
              </a:defRPr>
            </a:pPr>
            <a:r>
              <a:t>FOUNDATION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773936"/>
            <a:ext cx="7635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MATLAB Onramp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17627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5F6973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432304"/>
            <a:ext cx="10378440" cy="530352"/>
          </a:xfrm>
          <a:prstGeom prst="roundRect">
            <a:avLst/>
          </a:prstGeom>
          <a:solidFill>
            <a:srgbClr val="00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2514600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2505456"/>
            <a:ext cx="7635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Simulink Onramp + Control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290779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5F6973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163824"/>
            <a:ext cx="10378440" cy="530352"/>
          </a:xfrm>
          <a:prstGeom prst="roundRect">
            <a:avLst/>
          </a:prstGeom>
          <a:solidFill>
            <a:srgbClr val="E1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246120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072A5B"/>
                </a:solidFill>
                <a:latin typeface="Aptos"/>
              </a:defRPr>
            </a:pPr>
            <a:r>
              <a:t>PHYSICAL SYSTEMS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3236976"/>
            <a:ext cx="7635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E2630"/>
                </a:solidFill>
                <a:latin typeface="Aptos"/>
              </a:defRPr>
            </a:pPr>
            <a:r>
              <a:t>Simscape • Circuit Simulation • Power Electronics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63931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5F6973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3895344"/>
            <a:ext cx="10378440" cy="530352"/>
          </a:xfrm>
          <a:prstGeom prst="roundRect">
            <a:avLst/>
          </a:prstGeom>
          <a:solidFill>
            <a:srgbClr val="EC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3977640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072A5B"/>
                </a:solidFill>
                <a:latin typeface="Aptos"/>
              </a:defRPr>
            </a:pPr>
            <a:r>
              <a:t>CONTROL &amp; BATTERY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3968496"/>
            <a:ext cx="7635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E2630"/>
                </a:solidFill>
                <a:latin typeface="Aptos"/>
              </a:defRPr>
            </a:pPr>
            <a:r>
              <a:t>Stateflow • Simscape Battery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437083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5F6973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" y="4626864"/>
            <a:ext cx="10378440" cy="530352"/>
          </a:xfrm>
          <a:prstGeom prst="roundRect">
            <a:avLst/>
          </a:prstGeom>
          <a:solidFill>
            <a:srgbClr val="E1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4709160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072A5B"/>
                </a:solidFill>
                <a:latin typeface="Aptos"/>
              </a:defRPr>
            </a:pPr>
            <a:r>
              <a:t>POWER &amp; ARCHITECTURE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4700016"/>
            <a:ext cx="7635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E2630"/>
                </a:solidFill>
                <a:latin typeface="Aptos"/>
              </a:defRPr>
            </a:pPr>
            <a:r>
              <a:t>Power Systems • System Composer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51023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5F6973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5358384"/>
            <a:ext cx="10378440" cy="530352"/>
          </a:xfrm>
          <a:prstGeom prst="roundRect">
            <a:avLst/>
          </a:prstGeom>
          <a:solidFill>
            <a:srgbClr val="F58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5440680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Aptos"/>
              </a:defRPr>
            </a:pPr>
            <a:r>
              <a:t>APPLICATION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46120" y="5431536"/>
            <a:ext cx="7635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App Designer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7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27648"/>
            <a:ext cx="12191695" cy="164592"/>
          </a:xfrm>
          <a:prstGeom prst="rect">
            <a:avLst/>
          </a:prstGeom>
          <a:solidFill>
            <a:srgbClr val="07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6144768"/>
            <a:ext cx="12191695" cy="118872"/>
          </a:xfrm>
          <a:prstGeom prst="rect">
            <a:avLst/>
          </a:prstGeom>
          <a:solidFill>
            <a:srgbClr val="00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5998464"/>
            <a:ext cx="12191695" cy="91440"/>
          </a:xfrm>
          <a:prstGeom prst="rect">
            <a:avLst/>
          </a:prstGeom>
          <a:solidFill>
            <a:srgbClr val="F58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93192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72A5B"/>
                </a:solidFill>
                <a:latin typeface="Aptos"/>
              </a:defRPr>
            </a:pPr>
            <a:r>
              <a:t>METHODOLOGY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" y="941832"/>
            <a:ext cx="914400" cy="50292"/>
          </a:xfrm>
          <a:prstGeom prst="rect">
            <a:avLst/>
          </a:prstGeom>
          <a:solidFill>
            <a:srgbClr val="F58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44200" y="6400800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F6973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3444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072A5B"/>
                </a:solidFill>
                <a:latin typeface="Aptos"/>
              </a:defRPr>
            </a:pPr>
            <a:r>
              <a:t>The 8-Week Learning Journey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737360"/>
            <a:ext cx="5257800" cy="987552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58952" y="1883664"/>
            <a:ext cx="393192" cy="393192"/>
          </a:xfrm>
          <a:prstGeom prst="ellipse">
            <a:avLst/>
          </a:prstGeom>
          <a:solidFill>
            <a:srgbClr val="F58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1906524"/>
            <a:ext cx="3931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2728" y="1874519"/>
            <a:ext cx="44622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72A5B"/>
                </a:solidFill>
                <a:latin typeface="Aptos"/>
              </a:defRPr>
            </a:pPr>
            <a:r>
              <a:t>WEEK 1 — MATLAB Onramp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286000"/>
            <a:ext cx="4892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E2630"/>
                </a:solidFill>
                <a:latin typeface="Aptos"/>
              </a:defRPr>
            </a:pPr>
            <a:r>
              <a:t>MATLAB language, development environment and tools for analyzing science and engineering 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737360"/>
            <a:ext cx="5257800" cy="987552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82512" y="1883664"/>
            <a:ext cx="393192" cy="393192"/>
          </a:xfrm>
          <a:prstGeom prst="ellipse">
            <a:avLst/>
          </a:prstGeom>
          <a:solidFill>
            <a:srgbClr val="F58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906524"/>
            <a:ext cx="3931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1874519"/>
            <a:ext cx="44622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72A5B"/>
                </a:solidFill>
                <a:latin typeface="Aptos"/>
              </a:defRPr>
            </a:pPr>
            <a:r>
              <a:t>WEEK 2 — Simulink + Control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286000"/>
            <a:ext cx="4892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E2630"/>
                </a:solidFill>
                <a:latin typeface="Aptos"/>
              </a:defRPr>
            </a:pPr>
            <a:r>
              <a:t>Block-diagram modeling, simulation and feedback control with PID tuning.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2907791"/>
            <a:ext cx="5257800" cy="987552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8952" y="3054096"/>
            <a:ext cx="393192" cy="393192"/>
          </a:xfrm>
          <a:prstGeom prst="ellipse">
            <a:avLst/>
          </a:prstGeom>
          <a:solidFill>
            <a:srgbClr val="F58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" y="3076956"/>
            <a:ext cx="3931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52728" y="3044951"/>
            <a:ext cx="44622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72A5B"/>
                </a:solidFill>
                <a:latin typeface="Aptos"/>
              </a:defRPr>
            </a:pPr>
            <a:r>
              <a:t>WEEK 3 — Simscape + Circuits + Power Electronics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456432"/>
            <a:ext cx="4892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E2630"/>
                </a:solidFill>
                <a:latin typeface="Aptos"/>
              </a:defRPr>
            </a:pPr>
            <a:r>
              <a:t>Physical networks, electrical circuits and buck-converter simulation.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907791"/>
            <a:ext cx="5257800" cy="987552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82512" y="3054096"/>
            <a:ext cx="393192" cy="393192"/>
          </a:xfrm>
          <a:prstGeom prst="ellipse">
            <a:avLst/>
          </a:prstGeom>
          <a:solidFill>
            <a:srgbClr val="F58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82512" y="3076956"/>
            <a:ext cx="3931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6288" y="3044951"/>
            <a:ext cx="44622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72A5B"/>
                </a:solidFill>
                <a:latin typeface="Aptos"/>
              </a:defRPr>
            </a:pPr>
            <a:r>
              <a:t>WEEK 4 — Stateflow Onramp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456432"/>
            <a:ext cx="4892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E2630"/>
                </a:solidFill>
                <a:latin typeface="Aptos"/>
              </a:defRPr>
            </a:pPr>
            <a:r>
              <a:t>Supervisory control systems and decision logic using state machines and flow charts.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4078224"/>
            <a:ext cx="5257800" cy="987552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58952" y="4224528"/>
            <a:ext cx="393192" cy="393192"/>
          </a:xfrm>
          <a:prstGeom prst="ellipse">
            <a:avLst/>
          </a:prstGeom>
          <a:solidFill>
            <a:srgbClr val="F58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" y="4247388"/>
            <a:ext cx="3931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52728" y="4215384"/>
            <a:ext cx="44622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72A5B"/>
                </a:solidFill>
                <a:latin typeface="Aptos"/>
              </a:defRPr>
            </a:pPr>
            <a:r>
              <a:t>WEEK 5 — Simscape Battery Onramp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4626864"/>
            <a:ext cx="4892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E2630"/>
                </a:solidFill>
                <a:latin typeface="Aptos"/>
              </a:defRPr>
            </a:pPr>
            <a:r>
              <a:t>Battery modeling, BMS, thermal management and charging/discharging algorithms.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4078224"/>
            <a:ext cx="5257800" cy="987552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382512" y="4224528"/>
            <a:ext cx="393192" cy="393192"/>
          </a:xfrm>
          <a:prstGeom prst="ellipse">
            <a:avLst/>
          </a:prstGeom>
          <a:solidFill>
            <a:srgbClr val="F58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82512" y="4247388"/>
            <a:ext cx="3931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76288" y="4215384"/>
            <a:ext cx="44622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72A5B"/>
                </a:solidFill>
                <a:latin typeface="Aptos"/>
              </a:defRPr>
            </a:pPr>
            <a:r>
              <a:t>WEEK 6 — Power Systems Simulation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626864"/>
            <a:ext cx="4892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E2630"/>
                </a:solidFill>
                <a:latin typeface="Aptos"/>
              </a:defRPr>
            </a:pPr>
            <a:r>
              <a:t>Microgrid modeling, Simscape Electrical and power-component control strategies.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5248656"/>
            <a:ext cx="5257800" cy="987552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58952" y="5394960"/>
            <a:ext cx="393192" cy="393192"/>
          </a:xfrm>
          <a:prstGeom prst="ellipse">
            <a:avLst/>
          </a:prstGeom>
          <a:solidFill>
            <a:srgbClr val="F58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8952" y="5417820"/>
            <a:ext cx="3931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52728" y="5385816"/>
            <a:ext cx="44622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72A5B"/>
                </a:solidFill>
                <a:latin typeface="Aptos"/>
              </a:defRPr>
            </a:pPr>
            <a:r>
              <a:t>WEEK 7 — System Composer Onramp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797296"/>
            <a:ext cx="4892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E2630"/>
                </a:solidFill>
                <a:latin typeface="Aptos"/>
              </a:defRPr>
            </a:pPr>
            <a:r>
              <a:t>System architecture, requirements tracing and Simulink integration for verification.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5248656"/>
            <a:ext cx="5257800" cy="987552"/>
          </a:xfrm>
          <a:prstGeom prst="roundRect">
            <a:avLst/>
          </a:prstGeom>
          <a:solidFill>
            <a:srgbClr val="F4F7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382512" y="5394960"/>
            <a:ext cx="393192" cy="393192"/>
          </a:xfrm>
          <a:prstGeom prst="ellipse">
            <a:avLst/>
          </a:prstGeom>
          <a:solidFill>
            <a:srgbClr val="F58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82512" y="5417820"/>
            <a:ext cx="3931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76288" y="5385816"/>
            <a:ext cx="44622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072A5B"/>
                </a:solidFill>
                <a:latin typeface="Aptos"/>
              </a:defRPr>
            </a:pPr>
            <a:r>
              <a:t>WEEK 8 — App Building Onramp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5797296"/>
            <a:ext cx="4892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1E2630"/>
                </a:solidFill>
                <a:latin typeface="Aptos"/>
              </a:defRPr>
            </a:pPr>
            <a:r>
              <a:t>MATLAB App Designer, user-interface design, callbacks and complete app development.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7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27648"/>
            <a:ext cx="12191695" cy="164592"/>
          </a:xfrm>
          <a:prstGeom prst="rect">
            <a:avLst/>
          </a:prstGeom>
          <a:solidFill>
            <a:srgbClr val="07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6144768"/>
            <a:ext cx="12191695" cy="118872"/>
          </a:xfrm>
          <a:prstGeom prst="rect">
            <a:avLst/>
          </a:prstGeom>
          <a:solidFill>
            <a:srgbClr val="00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5998464"/>
            <a:ext cx="12191695" cy="91440"/>
          </a:xfrm>
          <a:prstGeom prst="rect">
            <a:avLst/>
          </a:prstGeom>
          <a:solidFill>
            <a:srgbClr val="F58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93192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72A5B"/>
                </a:solidFill>
                <a:latin typeface="Aptos"/>
              </a:defRPr>
            </a:pPr>
            <a:r>
              <a:t>EXPECTED OUTCOMES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" y="941832"/>
            <a:ext cx="914400" cy="50292"/>
          </a:xfrm>
          <a:prstGeom prst="rect">
            <a:avLst/>
          </a:prstGeom>
          <a:solidFill>
            <a:srgbClr val="F58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44200" y="6400800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F6973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3444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072A5B"/>
                </a:solidFill>
                <a:latin typeface="Aptos"/>
              </a:defRPr>
            </a:pPr>
            <a:r>
              <a:t>Skills &amp; Capabilities Gained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1773936"/>
            <a:ext cx="292608" cy="292608"/>
          </a:xfrm>
          <a:prstGeom prst="ellipse">
            <a:avLst/>
          </a:prstGeom>
          <a:solidFill>
            <a:srgbClr val="F58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787651"/>
            <a:ext cx="2926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755648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E2630"/>
                </a:solidFill>
                <a:latin typeface="Aptos"/>
              </a:defRPr>
            </a:pPr>
            <a:r>
              <a:t>Ability to use MATLAB for engineering-oriented analysis and learning.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2286000"/>
            <a:ext cx="292608" cy="292608"/>
          </a:xfrm>
          <a:prstGeom prst="ellipse">
            <a:avLst/>
          </a:prstGeom>
          <a:solidFill>
            <a:srgbClr val="F58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299716"/>
            <a:ext cx="2926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267712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E2630"/>
                </a:solidFill>
                <a:latin typeface="Aptos"/>
              </a:defRPr>
            </a:pPr>
            <a:r>
              <a:t>Practical understanding of block-diagram modeling and simulation in Simulink.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2798064"/>
            <a:ext cx="292608" cy="292608"/>
          </a:xfrm>
          <a:prstGeom prst="ellipse">
            <a:avLst/>
          </a:prstGeom>
          <a:solidFill>
            <a:srgbClr val="F58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811780"/>
            <a:ext cx="2926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779776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E2630"/>
                </a:solidFill>
                <a:latin typeface="Aptos"/>
              </a:defRPr>
            </a:pPr>
            <a:r>
              <a:t>Exposure to physical-system, circuit and power-electronics simulation with Simscape.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3310128"/>
            <a:ext cx="292608" cy="292608"/>
          </a:xfrm>
          <a:prstGeom prst="ellipse">
            <a:avLst/>
          </a:prstGeom>
          <a:solidFill>
            <a:srgbClr val="F58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323844"/>
            <a:ext cx="2926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291840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E2630"/>
                </a:solidFill>
                <a:latin typeface="Aptos"/>
              </a:defRPr>
            </a:pPr>
            <a:r>
              <a:t>Understanding of supervisory control and decision logic using Stateflow.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" y="3822191"/>
            <a:ext cx="292608" cy="292608"/>
          </a:xfrm>
          <a:prstGeom prst="ellipse">
            <a:avLst/>
          </a:prstGeom>
          <a:solidFill>
            <a:srgbClr val="F58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835908"/>
            <a:ext cx="2926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803904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E2630"/>
                </a:solidFill>
                <a:latin typeface="Aptos"/>
              </a:defRPr>
            </a:pPr>
            <a:r>
              <a:t>Hands-on understanding of battery modeling, BMS and thermal-management concepts.</a:t>
            </a:r>
          </a:p>
        </p:txBody>
      </p:sp>
      <p:sp>
        <p:nvSpPr>
          <p:cNvPr id="25" name="Oval 24"/>
          <p:cNvSpPr/>
          <p:nvPr/>
        </p:nvSpPr>
        <p:spPr>
          <a:xfrm>
            <a:off x="822960" y="4334256"/>
            <a:ext cx="292608" cy="292608"/>
          </a:xfrm>
          <a:prstGeom prst="ellipse">
            <a:avLst/>
          </a:prstGeom>
          <a:solidFill>
            <a:srgbClr val="F58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347972"/>
            <a:ext cx="2926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315968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E2630"/>
                </a:solidFill>
                <a:latin typeface="Aptos"/>
              </a:defRPr>
            </a:pPr>
            <a:r>
              <a:t>Experience with microgrid and electrical power-system simulation.</a:t>
            </a:r>
          </a:p>
        </p:txBody>
      </p:sp>
      <p:sp>
        <p:nvSpPr>
          <p:cNvPr id="28" name="Oval 27"/>
          <p:cNvSpPr/>
          <p:nvPr/>
        </p:nvSpPr>
        <p:spPr>
          <a:xfrm>
            <a:off x="822960" y="4846320"/>
            <a:ext cx="292608" cy="292608"/>
          </a:xfrm>
          <a:prstGeom prst="ellipse">
            <a:avLst/>
          </a:prstGeom>
          <a:solidFill>
            <a:srgbClr val="F58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860036"/>
            <a:ext cx="2926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828032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E2630"/>
                </a:solidFill>
                <a:latin typeface="Aptos"/>
              </a:defRPr>
            </a:pPr>
            <a:r>
              <a:t>Understanding of system architecture and requirements tracing using System Composer.</a:t>
            </a:r>
          </a:p>
        </p:txBody>
      </p:sp>
      <p:sp>
        <p:nvSpPr>
          <p:cNvPr id="31" name="Oval 30"/>
          <p:cNvSpPr/>
          <p:nvPr/>
        </p:nvSpPr>
        <p:spPr>
          <a:xfrm>
            <a:off x="822960" y="5358383"/>
            <a:ext cx="292608" cy="292608"/>
          </a:xfrm>
          <a:prstGeom prst="ellipse">
            <a:avLst/>
          </a:prstGeom>
          <a:solidFill>
            <a:srgbClr val="F58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372100"/>
            <a:ext cx="29260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5340096"/>
            <a:ext cx="9966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E2630"/>
                </a:solidFill>
                <a:latin typeface="Aptos"/>
              </a:defRPr>
            </a:pPr>
            <a:r>
              <a:t>Capability to build MATLAB applications using App Designer.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7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27648"/>
            <a:ext cx="12191695" cy="164592"/>
          </a:xfrm>
          <a:prstGeom prst="rect">
            <a:avLst/>
          </a:prstGeom>
          <a:solidFill>
            <a:srgbClr val="07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6144768"/>
            <a:ext cx="12191695" cy="118872"/>
          </a:xfrm>
          <a:prstGeom prst="rect">
            <a:avLst/>
          </a:prstGeom>
          <a:solidFill>
            <a:srgbClr val="00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5998464"/>
            <a:ext cx="12191695" cy="91440"/>
          </a:xfrm>
          <a:prstGeom prst="rect">
            <a:avLst/>
          </a:prstGeom>
          <a:solidFill>
            <a:srgbClr val="F58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93192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72A5B"/>
                </a:solidFill>
                <a:latin typeface="Aptos"/>
              </a:defRPr>
            </a:pPr>
            <a:r>
              <a:t>CERTIFICATION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" y="941832"/>
            <a:ext cx="914400" cy="50292"/>
          </a:xfrm>
          <a:prstGeom prst="rect">
            <a:avLst/>
          </a:prstGeom>
          <a:solidFill>
            <a:srgbClr val="F58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44200" y="6400800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F6973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170432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072A5B"/>
                </a:solidFill>
                <a:latin typeface="Aptos"/>
              </a:defRPr>
            </a:pPr>
            <a:r>
              <a:t>Successfully Completed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73352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58B18"/>
                </a:solidFill>
                <a:latin typeface="Aptos"/>
              </a:defRPr>
            </a:pPr>
            <a:r>
              <a:t>Grade: O (Outstanding)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12848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E2630"/>
                </a:solidFill>
                <a:latin typeface="Aptos"/>
              </a:defRPr>
            </a:pPr>
            <a:r>
              <a:t>Certificate ID: 4ad8bd95e2683dcd3be1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578608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E2630"/>
                </a:solidFill>
                <a:latin typeface="Aptos"/>
              </a:defRPr>
            </a:pPr>
            <a:r>
              <a:t>Student ID: STU699ac8fcc6e891771751676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944368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1E2630"/>
                </a:solidFill>
                <a:latin typeface="Aptos"/>
              </a:defRPr>
            </a:pPr>
            <a:r>
              <a:t>Duration: 8 Weeks | June – August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383280"/>
            <a:ext cx="4754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72A5B"/>
                </a:solidFill>
                <a:latin typeface="Aptos"/>
              </a:defRPr>
            </a:pPr>
            <a:r>
              <a:t>Supported by MathWorks</a:t>
            </a:r>
          </a:p>
        </p:txBody>
      </p:sp>
      <p:pic>
        <p:nvPicPr>
          <p:cNvPr id="15" name="Picture 14" descr="c224b923-b2ac-4aaf-9edc-946e503ddbf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024128"/>
            <a:ext cx="5532120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7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27648"/>
            <a:ext cx="12191695" cy="164592"/>
          </a:xfrm>
          <a:prstGeom prst="rect">
            <a:avLst/>
          </a:prstGeom>
          <a:solidFill>
            <a:srgbClr val="072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6144768"/>
            <a:ext cx="12191695" cy="118872"/>
          </a:xfrm>
          <a:prstGeom prst="rect">
            <a:avLst/>
          </a:prstGeom>
          <a:solidFill>
            <a:srgbClr val="005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5998464"/>
            <a:ext cx="12191695" cy="91440"/>
          </a:xfrm>
          <a:prstGeom prst="rect">
            <a:avLst/>
          </a:prstGeom>
          <a:solidFill>
            <a:srgbClr val="F58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44200" y="6400800"/>
            <a:ext cx="685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5F6973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698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800" b="1">
                <a:solidFill>
                  <a:srgbClr val="072A5B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10332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F58B18"/>
                </a:solidFill>
                <a:latin typeface="Aptos"/>
              </a:defRPr>
            </a:pPr>
            <a:r>
              <a:t>Electric Vehicle Modeling and Simulation Design</a:t>
            </a:r>
            <a:br/>
            <a:r>
              <a:t>Virtual Internship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9476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1E2630"/>
                </a:solidFill>
                <a:latin typeface="Aptos"/>
              </a:defRPr>
            </a:pPr>
            <a:r>
              <a:t>shivam kumar  |  B.Tech (Computer Science and Engineering)</a:t>
            </a:r>
            <a:br/>
            <a:r>
              <a:t>IILM University, Greater Noida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